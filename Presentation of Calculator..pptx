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4ae197e9f0a85b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4ae197e9f0a85b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4ae197e9f0a85b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4ae197e9f0a85b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4ae197e9f0a85b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4ae197e9f0a85b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4ae197e9f0a85b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4ae197e9f0a85b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4ae197e9f0a85b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4ae197e9f0a85b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4ae197e9f0a85b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4ae197e9f0a85b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4ae197e9f0a85b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h4ae197e9f0a85b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Presentation of Calculator.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CALCULATOR WEB APPLICATION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 Mini Project Using HTML, CSS &amp; JavaScript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GB" sz="1100">
                <a:solidFill>
                  <a:schemeClr val="dk1"/>
                </a:solidFill>
              </a:rPr>
              <a:t>Presented By:</a:t>
            </a:r>
            <a:br>
              <a:rPr b="1" lang="en-GB" sz="1100">
                <a:solidFill>
                  <a:schemeClr val="dk1"/>
                </a:solidFill>
              </a:rPr>
            </a:br>
            <a:r>
              <a:rPr lang="en-GB" sz="1100">
                <a:solidFill>
                  <a:schemeClr val="dk1"/>
                </a:solidFill>
              </a:rPr>
              <a:t>Name: __________</a:t>
            </a:r>
            <a:br>
              <a:rPr lang="en-GB" sz="1100">
                <a:solidFill>
                  <a:schemeClr val="dk1"/>
                </a:solidFill>
              </a:rPr>
            </a:br>
            <a:r>
              <a:rPr lang="en-GB" sz="1100">
                <a:solidFill>
                  <a:schemeClr val="dk1"/>
                </a:solidFill>
              </a:rPr>
              <a:t>Roll No.: __________</a:t>
            </a:r>
            <a:br>
              <a:rPr lang="en-GB" sz="1100">
                <a:solidFill>
                  <a:schemeClr val="dk1"/>
                </a:solidFill>
              </a:rPr>
            </a:br>
            <a:r>
              <a:rPr lang="en-GB" sz="1100">
                <a:solidFill>
                  <a:schemeClr val="dk1"/>
                </a:solidFill>
              </a:rPr>
              <a:t>Class/Division: __________</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Submitted To:</a:t>
            </a:r>
            <a:br>
              <a:rPr b="1" lang="en-GB" sz="1100">
                <a:solidFill>
                  <a:schemeClr val="dk1"/>
                </a:solidFill>
              </a:rPr>
            </a:br>
            <a:r>
              <a:rPr lang="en-GB" sz="1100">
                <a:solidFill>
                  <a:schemeClr val="dk1"/>
                </a:solidFill>
              </a:rPr>
              <a:t>Faculty Name: __________</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Academic Year:</a:t>
            </a:r>
            <a:r>
              <a:rPr lang="en-GB" sz="1100">
                <a:solidFill>
                  <a:schemeClr val="dk1"/>
                </a:solidFill>
              </a:rPr>
              <a:t> 2026–2027</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Good morning everyone. My project is a basic calculator developed using HTML, CSS and JavaScript. HTML is used to create the structure, CSS is used for designing the calculator, and JavaScript is used to perform mathematical operations. The calculator supports addition, subtraction, multiplication, division, percentage, clear and delete functions. I have also uploaded my project on GitHub for version control and easy access. Now I will demonstrate how the calculator works.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Slide 2 — Introduction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Clr>
                <a:schemeClr val="dk1"/>
              </a:buClr>
              <a:buSzPts val="1100"/>
              <a:buFont typeface="Arial"/>
              <a:buNone/>
            </a:pPr>
            <a:r>
              <a:rPr b="1" lang="en-GB" sz="2300">
                <a:solidFill>
                  <a:schemeClr val="dk1"/>
                </a:solidFill>
              </a:rPr>
              <a:t>INTRODUCTION</a:t>
            </a:r>
            <a:endParaRPr b="1" sz="23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The Calculator Web Application is a simple and interactive web-based project developed using </a:t>
            </a:r>
            <a:r>
              <a:rPr b="1" lang="en-GB" sz="1100">
                <a:solidFill>
                  <a:schemeClr val="dk1"/>
                </a:solidFill>
              </a:rPr>
              <a:t>HTML, CSS, and JavaScript</a:t>
            </a:r>
            <a:r>
              <a:rPr lang="en-GB"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The main purpose of this project is to perform basic mathematical calculations through a simple and user-friendly interface.</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The calculator can perform:</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Addition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Subtraction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Multiplication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Division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Percentage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Decimal calculations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This project also helped us understand the fundamentals of </a:t>
            </a:r>
            <a:r>
              <a:rPr b="1" lang="en-GB" sz="1100">
                <a:solidFill>
                  <a:schemeClr val="dk1"/>
                </a:solidFill>
              </a:rPr>
              <a:t>web development and JavaScript event handling</a:t>
            </a:r>
            <a:r>
              <a:rPr lang="en-GB"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Slide 3 — Objectives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GB" sz="2300">
                <a:solidFill>
                  <a:schemeClr val="dk1"/>
                </a:solidFill>
              </a:rPr>
              <a:t>OBJECTIVES</a:t>
            </a:r>
            <a:endParaRPr b="1" sz="23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The main objectives of this project are:</a:t>
            </a:r>
            <a:endParaRPr sz="1100">
              <a:solidFill>
                <a:schemeClr val="dk1"/>
              </a:solidFill>
            </a:endParaRPr>
          </a:p>
          <a:p>
            <a:pPr indent="-298450" lvl="0" marL="457200" rtl="0" algn="l">
              <a:spcBef>
                <a:spcPts val="1200"/>
              </a:spcBef>
              <a:spcAft>
                <a:spcPts val="0"/>
              </a:spcAft>
              <a:buClr>
                <a:schemeClr val="dk1"/>
              </a:buClr>
              <a:buSzPts val="1100"/>
              <a:buAutoNum type="arabicPeriod"/>
            </a:pPr>
            <a:r>
              <a:rPr lang="en-GB" sz="1100">
                <a:solidFill>
                  <a:schemeClr val="dk1"/>
                </a:solidFill>
              </a:rPr>
              <a:t>To understand the basic concepts of </a:t>
            </a:r>
            <a:r>
              <a:rPr b="1" lang="en-GB" sz="1100">
                <a:solidFill>
                  <a:schemeClr val="dk1"/>
                </a:solidFill>
              </a:rPr>
              <a:t>HTML, CSS, and JavaScript</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To create a simple and interactive web application.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To implement mathematical operations using JavaScript.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To understand </a:t>
            </a:r>
            <a:r>
              <a:rPr b="1" lang="en-GB" sz="1100">
                <a:solidFill>
                  <a:schemeClr val="dk1"/>
                </a:solidFill>
              </a:rPr>
              <a:t>functions and event handling</a:t>
            </a:r>
            <a:r>
              <a:rPr lang="en-GB" sz="1100">
                <a:solidFill>
                  <a:schemeClr val="dk1"/>
                </a:solidFill>
              </a:rPr>
              <a:t> in JavaScript.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To design a clean and user-friendly interface.</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To learn how to manage and upload a project using </a:t>
            </a:r>
            <a:r>
              <a:rPr b="1" lang="en-GB" sz="1100">
                <a:solidFill>
                  <a:schemeClr val="dk1"/>
                </a:solidFill>
              </a:rPr>
              <a:t>GitHub</a:t>
            </a:r>
            <a:r>
              <a:rPr lang="en-GB"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Slide 4 — Technologies Used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2400"/>
              </a:spcBef>
              <a:spcAft>
                <a:spcPts val="0"/>
              </a:spcAft>
              <a:buClr>
                <a:schemeClr val="dk1"/>
              </a:buClr>
              <a:buSzPct val="47826"/>
              <a:buFont typeface="Arial"/>
              <a:buNone/>
            </a:pPr>
            <a:r>
              <a:rPr b="1" lang="en-GB" sz="2300">
                <a:solidFill>
                  <a:schemeClr val="dk1"/>
                </a:solidFill>
              </a:rPr>
              <a:t>TECHNOLOGIES USED</a:t>
            </a:r>
            <a:endParaRPr b="1" sz="23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1. HTML5</a:t>
            </a:r>
            <a:endParaRPr b="1" sz="1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Used to create the basic structure of the calculator, including the display and buttons.</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2. CSS3</a:t>
            </a:r>
            <a:endParaRPr b="1" sz="1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Used to design the calculator interface, including layout, spacing, buttons, colors, and overall appearance.</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3. JavaScript</a:t>
            </a:r>
            <a:endParaRPr b="1" sz="1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Used to add functionality and perform mathematical calculations based on user input.</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4. GitHub</a:t>
            </a:r>
            <a:endParaRPr b="1" sz="1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Used to store, manage, and share the project source code online.</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Slide 5 — Working of the Calculator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2400"/>
              </a:spcBef>
              <a:spcAft>
                <a:spcPts val="0"/>
              </a:spcAft>
              <a:buClr>
                <a:schemeClr val="dk1"/>
              </a:buClr>
              <a:buSzPct val="47826"/>
              <a:buFont typeface="Arial"/>
              <a:buNone/>
            </a:pPr>
            <a:r>
              <a:rPr b="1" lang="en-GB" sz="2300">
                <a:solidFill>
                  <a:schemeClr val="dk1"/>
                </a:solidFill>
              </a:rPr>
              <a:t>WORKING OF THE CALCULATOR</a:t>
            </a:r>
            <a:endParaRPr b="1" sz="2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The calculator works through the following steps: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GB" sz="1100">
                <a:solidFill>
                  <a:schemeClr val="dk1"/>
                </a:solidFill>
              </a:rPr>
              <a:t>Step 1:</a:t>
            </a:r>
            <a:r>
              <a:rPr lang="en-GB" sz="1100">
                <a:solidFill>
                  <a:schemeClr val="dk1"/>
                </a:solidFill>
              </a:rPr>
              <a:t> The user clicks a number or operator button.</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GB" sz="1100">
                <a:solidFill>
                  <a:schemeClr val="dk1"/>
                </a:solidFill>
              </a:rPr>
              <a:t>Step 2:</a:t>
            </a:r>
            <a:r>
              <a:rPr lang="en-GB" sz="1100">
                <a:solidFill>
                  <a:schemeClr val="dk1"/>
                </a:solidFill>
              </a:rPr>
              <a:t> JavaScript captures the user's input.</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GB" sz="1100">
                <a:solidFill>
                  <a:schemeClr val="dk1"/>
                </a:solidFill>
              </a:rPr>
              <a:t>Step 3:</a:t>
            </a:r>
            <a:r>
              <a:rPr lang="en-GB" sz="1100">
                <a:solidFill>
                  <a:schemeClr val="dk1"/>
                </a:solidFill>
              </a:rPr>
              <a:t> The entered values are displayed on the calculator screen.</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GB" sz="1100">
                <a:solidFill>
                  <a:schemeClr val="dk1"/>
                </a:solidFill>
              </a:rPr>
              <a:t>Step 4:</a:t>
            </a:r>
            <a:r>
              <a:rPr lang="en-GB" sz="1100">
                <a:solidFill>
                  <a:schemeClr val="dk1"/>
                </a:solidFill>
              </a:rPr>
              <a:t> When the user presses the </a:t>
            </a:r>
            <a:r>
              <a:rPr b="1" lang="en-GB" sz="1100">
                <a:solidFill>
                  <a:schemeClr val="dk1"/>
                </a:solidFill>
              </a:rPr>
              <a:t>"="</a:t>
            </a:r>
            <a:r>
              <a:rPr lang="en-GB" sz="1100">
                <a:solidFill>
                  <a:schemeClr val="dk1"/>
                </a:solidFill>
              </a:rPr>
              <a:t> button, JavaScript evaluates the expression.</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GB" sz="1100">
                <a:solidFill>
                  <a:schemeClr val="dk1"/>
                </a:solidFill>
              </a:rPr>
              <a:t>Step 5:</a:t>
            </a:r>
            <a:r>
              <a:rPr lang="en-GB" sz="1100">
                <a:solidFill>
                  <a:schemeClr val="dk1"/>
                </a:solidFill>
              </a:rPr>
              <a:t> The calculated result is displayed on the screen.</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Additional Functions</a:t>
            </a:r>
            <a:endParaRPr b="1" sz="1300">
              <a:solidFill>
                <a:schemeClr val="dk1"/>
              </a:solidFill>
            </a:endParaRPr>
          </a:p>
          <a:p>
            <a:pPr indent="-282734" lvl="0" marL="457200" rtl="0" algn="l">
              <a:spcBef>
                <a:spcPts val="1200"/>
              </a:spcBef>
              <a:spcAft>
                <a:spcPts val="0"/>
              </a:spcAft>
              <a:buClr>
                <a:schemeClr val="dk1"/>
              </a:buClr>
              <a:buSzPct val="100000"/>
              <a:buChar char="●"/>
            </a:pPr>
            <a:r>
              <a:rPr b="1" lang="en-GB" sz="1100">
                <a:solidFill>
                  <a:schemeClr val="dk1"/>
                </a:solidFill>
              </a:rPr>
              <a:t>C</a:t>
            </a:r>
            <a:r>
              <a:rPr lang="en-GB" sz="1100">
                <a:solidFill>
                  <a:schemeClr val="dk1"/>
                </a:solidFill>
              </a:rPr>
              <a:t> → Clears the complete display.</a:t>
            </a:r>
            <a:endParaRPr sz="1100">
              <a:solidFill>
                <a:schemeClr val="dk1"/>
              </a:solidFill>
            </a:endParaRPr>
          </a:p>
          <a:p>
            <a:pPr indent="-282734" lvl="0" marL="457200" rtl="0" algn="l">
              <a:spcBef>
                <a:spcPts val="0"/>
              </a:spcBef>
              <a:spcAft>
                <a:spcPts val="0"/>
              </a:spcAft>
              <a:buClr>
                <a:schemeClr val="dk1"/>
              </a:buClr>
              <a:buSzPct val="100000"/>
              <a:buChar char="●"/>
            </a:pPr>
            <a:r>
              <a:rPr b="1" lang="en-GB" sz="1100">
                <a:solidFill>
                  <a:schemeClr val="dk1"/>
                </a:solidFill>
              </a:rPr>
              <a:t>DEL</a:t>
            </a:r>
            <a:r>
              <a:rPr lang="en-GB" sz="1100">
                <a:solidFill>
                  <a:schemeClr val="dk1"/>
                </a:solidFill>
              </a:rPr>
              <a:t> → Removes the last entered character.</a:t>
            </a:r>
            <a:endParaRPr sz="1100">
              <a:solidFill>
                <a:schemeClr val="dk1"/>
              </a:solidFill>
            </a:endParaRPr>
          </a:p>
          <a:p>
            <a:pPr indent="-282734" lvl="0" marL="457200" rtl="0" algn="l">
              <a:spcBef>
                <a:spcPts val="0"/>
              </a:spcBef>
              <a:spcAft>
                <a:spcPts val="0"/>
              </a:spcAft>
              <a:buClr>
                <a:schemeClr val="dk1"/>
              </a:buClr>
              <a:buSzPct val="100000"/>
              <a:buChar char="●"/>
            </a:pPr>
            <a:r>
              <a:rPr b="1" lang="en-GB" sz="1100">
                <a:solidFill>
                  <a:schemeClr val="dk1"/>
                </a:solidFill>
              </a:rPr>
              <a:t>%</a:t>
            </a:r>
            <a:r>
              <a:rPr lang="en-GB" sz="1100">
                <a:solidFill>
                  <a:schemeClr val="dk1"/>
                </a:solidFill>
              </a:rPr>
              <a:t> → Performs percentage-related calculations.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Slide 6 — Project Structure &amp; GitHub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32500" lnSpcReduction="20000"/>
          </a:bodyPr>
          <a:lstStyle/>
          <a:p>
            <a:pPr indent="0" lvl="0" marL="0" rtl="0" algn="l">
              <a:spcBef>
                <a:spcPts val="2400"/>
              </a:spcBef>
              <a:spcAft>
                <a:spcPts val="0"/>
              </a:spcAft>
              <a:buClr>
                <a:schemeClr val="dk1"/>
              </a:buClr>
              <a:buSzPct val="47826"/>
              <a:buFont typeface="Arial"/>
              <a:buNone/>
            </a:pPr>
            <a:r>
              <a:rPr b="1" lang="en-GB" sz="2300">
                <a:solidFill>
                  <a:schemeClr val="dk1"/>
                </a:solidFill>
              </a:rPr>
              <a:t>PROJECT STRUCTURE &amp; GITHUB</a:t>
            </a:r>
            <a:endParaRPr b="1" sz="23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Project Structure</a:t>
            </a:r>
            <a:endParaRPr b="1" sz="1300">
              <a:solidFill>
                <a:schemeClr val="dk1"/>
              </a:solidFill>
            </a:endParaRPr>
          </a:p>
          <a:p>
            <a:pPr indent="0" lvl="0" marL="0" rtl="0" algn="l">
              <a:spcBef>
                <a:spcPts val="400"/>
              </a:spcBef>
              <a:spcAft>
                <a:spcPts val="0"/>
              </a:spcAft>
              <a:buNone/>
            </a:pPr>
            <a:r>
              <a:rPr lang="en-GB" sz="1100">
                <a:solidFill>
                  <a:schemeClr val="dk1"/>
                </a:solidFill>
              </a:rPr>
              <a:t>calculator/</a:t>
            </a:r>
            <a:endParaRPr sz="1100">
              <a:solidFill>
                <a:schemeClr val="dk1"/>
              </a:solidFill>
            </a:endParaRPr>
          </a:p>
          <a:p>
            <a:pPr indent="0" lvl="0" marL="0" rtl="0" algn="l">
              <a:spcBef>
                <a:spcPts val="1200"/>
              </a:spcBef>
              <a:spcAft>
                <a:spcPts val="0"/>
              </a:spcAft>
              <a:buNone/>
            </a:pPr>
            <a:r>
              <a:rPr lang="en-GB" sz="1100">
                <a:solidFill>
                  <a:schemeClr val="dk1"/>
                </a:solidFill>
              </a:rPr>
              <a:t>│</a:t>
            </a:r>
            <a:endParaRPr sz="1100">
              <a:solidFill>
                <a:schemeClr val="dk1"/>
              </a:solidFill>
            </a:endParaRPr>
          </a:p>
          <a:p>
            <a:pPr indent="0" lvl="0" marL="0" rtl="0" algn="l">
              <a:spcBef>
                <a:spcPts val="1200"/>
              </a:spcBef>
              <a:spcAft>
                <a:spcPts val="0"/>
              </a:spcAft>
              <a:buNone/>
            </a:pPr>
            <a:r>
              <a:rPr lang="en-GB" sz="1100">
                <a:solidFill>
                  <a:schemeClr val="dk1"/>
                </a:solidFill>
              </a:rPr>
              <a:t>├── index.html</a:t>
            </a:r>
            <a:endParaRPr sz="1100">
              <a:solidFill>
                <a:schemeClr val="dk1"/>
              </a:solidFill>
            </a:endParaRPr>
          </a:p>
          <a:p>
            <a:pPr indent="0" lvl="0" marL="0" rtl="0" algn="l">
              <a:spcBef>
                <a:spcPts val="1200"/>
              </a:spcBef>
              <a:spcAft>
                <a:spcPts val="0"/>
              </a:spcAft>
              <a:buNone/>
            </a:pPr>
            <a:r>
              <a:rPr lang="en-GB" sz="1100">
                <a:solidFill>
                  <a:schemeClr val="dk1"/>
                </a:solidFill>
              </a:rPr>
              <a:t>├── style.css</a:t>
            </a:r>
            <a:endParaRPr sz="1100">
              <a:solidFill>
                <a:schemeClr val="dk1"/>
              </a:solidFill>
            </a:endParaRPr>
          </a:p>
          <a:p>
            <a:pPr indent="0" lvl="0" marL="0" rtl="0" algn="l">
              <a:spcBef>
                <a:spcPts val="1200"/>
              </a:spcBef>
              <a:spcAft>
                <a:spcPts val="0"/>
              </a:spcAft>
              <a:buNone/>
            </a:pPr>
            <a:r>
              <a:rPr lang="en-GB" sz="1100">
                <a:solidFill>
                  <a:schemeClr val="dk1"/>
                </a:solidFill>
              </a:rPr>
              <a:t>├── script.js</a:t>
            </a:r>
            <a:endParaRPr sz="1100">
              <a:solidFill>
                <a:schemeClr val="dk1"/>
              </a:solidFill>
            </a:endParaRPr>
          </a:p>
          <a:p>
            <a:pPr indent="0" lvl="0" marL="0" rtl="0" algn="l">
              <a:spcBef>
                <a:spcPts val="1200"/>
              </a:spcBef>
              <a:spcAft>
                <a:spcPts val="0"/>
              </a:spcAft>
              <a:buNone/>
            </a:pPr>
            <a:r>
              <a:rPr lang="en-GB" sz="1100">
                <a:solidFill>
                  <a:schemeClr val="dk1"/>
                </a:solidFill>
              </a:rPr>
              <a:t>└── README.md</a:t>
            </a:r>
            <a:endParaRPr sz="1100">
              <a:solidFill>
                <a:schemeClr val="dk1"/>
              </a:solidFill>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Role of Each File</a:t>
            </a:r>
            <a:endParaRPr b="1" sz="1300">
              <a:solidFill>
                <a:schemeClr val="dk1"/>
              </a:solidFill>
            </a:endParaRPr>
          </a:p>
          <a:p>
            <a:pPr indent="-251301" lvl="0" marL="457200" rtl="0" algn="l">
              <a:spcBef>
                <a:spcPts val="1200"/>
              </a:spcBef>
              <a:spcAft>
                <a:spcPts val="0"/>
              </a:spcAft>
              <a:buClr>
                <a:schemeClr val="dk1"/>
              </a:buClr>
              <a:buSzPct val="100000"/>
              <a:buChar char="●"/>
            </a:pPr>
            <a:r>
              <a:rPr b="1" lang="en-GB" sz="1100">
                <a:solidFill>
                  <a:schemeClr val="dk1"/>
                </a:solidFill>
              </a:rPr>
              <a:t>index.html</a:t>
            </a:r>
            <a:r>
              <a:rPr lang="en-GB" sz="1100">
                <a:solidFill>
                  <a:schemeClr val="dk1"/>
                </a:solidFill>
              </a:rPr>
              <a:t> → Structure of the calculator</a:t>
            </a:r>
            <a:endParaRPr sz="1100">
              <a:solidFill>
                <a:schemeClr val="dk1"/>
              </a:solidFill>
            </a:endParaRPr>
          </a:p>
          <a:p>
            <a:pPr indent="-251301" lvl="0" marL="457200" rtl="0" algn="l">
              <a:spcBef>
                <a:spcPts val="0"/>
              </a:spcBef>
              <a:spcAft>
                <a:spcPts val="0"/>
              </a:spcAft>
              <a:buClr>
                <a:schemeClr val="dk1"/>
              </a:buClr>
              <a:buSzPct val="100000"/>
              <a:buChar char="●"/>
            </a:pPr>
            <a:r>
              <a:rPr b="1" lang="en-GB" sz="1100">
                <a:solidFill>
                  <a:schemeClr val="dk1"/>
                </a:solidFill>
              </a:rPr>
              <a:t>style.css</a:t>
            </a:r>
            <a:r>
              <a:rPr lang="en-GB" sz="1100">
                <a:solidFill>
                  <a:schemeClr val="dk1"/>
                </a:solidFill>
              </a:rPr>
              <a:t> → Design and layout</a:t>
            </a:r>
            <a:endParaRPr sz="1100">
              <a:solidFill>
                <a:schemeClr val="dk1"/>
              </a:solidFill>
            </a:endParaRPr>
          </a:p>
          <a:p>
            <a:pPr indent="-251301" lvl="0" marL="457200" rtl="0" algn="l">
              <a:spcBef>
                <a:spcPts val="0"/>
              </a:spcBef>
              <a:spcAft>
                <a:spcPts val="0"/>
              </a:spcAft>
              <a:buClr>
                <a:schemeClr val="dk1"/>
              </a:buClr>
              <a:buSzPct val="100000"/>
              <a:buChar char="●"/>
            </a:pPr>
            <a:r>
              <a:rPr b="1" lang="en-GB" sz="1100">
                <a:solidFill>
                  <a:schemeClr val="dk1"/>
                </a:solidFill>
              </a:rPr>
              <a:t>script.js</a:t>
            </a:r>
            <a:r>
              <a:rPr lang="en-GB" sz="1100">
                <a:solidFill>
                  <a:schemeClr val="dk1"/>
                </a:solidFill>
              </a:rPr>
              <a:t> → Calculator functionality</a:t>
            </a:r>
            <a:endParaRPr sz="1100">
              <a:solidFill>
                <a:schemeClr val="dk1"/>
              </a:solidFill>
            </a:endParaRPr>
          </a:p>
          <a:p>
            <a:pPr indent="-251301" lvl="0" marL="457200" rtl="0" algn="l">
              <a:spcBef>
                <a:spcPts val="0"/>
              </a:spcBef>
              <a:spcAft>
                <a:spcPts val="0"/>
              </a:spcAft>
              <a:buClr>
                <a:schemeClr val="dk1"/>
              </a:buClr>
              <a:buSzPct val="100000"/>
              <a:buChar char="●"/>
            </a:pPr>
            <a:r>
              <a:rPr b="1" lang="en-GB" sz="1100">
                <a:solidFill>
                  <a:schemeClr val="dk1"/>
                </a:solidFill>
              </a:rPr>
              <a:t>README.md</a:t>
            </a:r>
            <a:r>
              <a:rPr lang="en-GB" sz="1100">
                <a:solidFill>
                  <a:schemeClr val="dk1"/>
                </a:solidFill>
              </a:rPr>
              <a:t> → Project documentation</a:t>
            </a:r>
            <a:endParaRPr sz="1100">
              <a:solidFill>
                <a:schemeClr val="dk1"/>
              </a:solidFill>
            </a:endParaRPr>
          </a:p>
          <a:p>
            <a:pPr indent="0" lvl="0" marL="0" rtl="0" algn="l">
              <a:spcBef>
                <a:spcPts val="1400"/>
              </a:spcBef>
              <a:spcAft>
                <a:spcPts val="0"/>
              </a:spcAft>
              <a:buNone/>
            </a:pPr>
            <a:r>
              <a:rPr b="1" lang="en-GB" sz="1300">
                <a:solidFill>
                  <a:schemeClr val="dk1"/>
                </a:solidFill>
              </a:rPr>
              <a:t>GitHub</a:t>
            </a:r>
            <a:endParaRPr b="1" sz="13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https://github.com/kunal1218-win/Calculator.git</a:t>
            </a:r>
            <a:endParaRPr b="1" sz="1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The complete source code and project documentation are uploaded to a GitHub repository for easy access, version control, and sharing.</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Slide 7 — Conclusion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10000"/>
          </a:bodyPr>
          <a:lstStyle/>
          <a:p>
            <a:pPr indent="0" lvl="0" marL="0" rtl="0" algn="l">
              <a:spcBef>
                <a:spcPts val="2400"/>
              </a:spcBef>
              <a:spcAft>
                <a:spcPts val="0"/>
              </a:spcAft>
              <a:buClr>
                <a:schemeClr val="dk1"/>
              </a:buClr>
              <a:buSzPct val="47826"/>
              <a:buFont typeface="Arial"/>
              <a:buNone/>
            </a:pPr>
            <a:r>
              <a:rPr b="1" lang="en-GB" sz="2300">
                <a:solidFill>
                  <a:schemeClr val="dk1"/>
                </a:solidFill>
              </a:rPr>
              <a:t>CONCLUSION</a:t>
            </a:r>
            <a:endParaRPr b="1" sz="2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The Calculator Web Application successfully demonstrates the practical use of </a:t>
            </a:r>
            <a:r>
              <a:rPr b="1" lang="en-GB" sz="1100">
                <a:solidFill>
                  <a:schemeClr val="dk1"/>
                </a:solidFill>
              </a:rPr>
              <a:t>HTML, CSS, and JavaScript</a:t>
            </a:r>
            <a:r>
              <a:rPr lang="en-GB" sz="1100">
                <a:solidFill>
                  <a:schemeClr val="dk1"/>
                </a:solidFill>
              </a:rPr>
              <a: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Through this project, we learned how to:</a:t>
            </a:r>
            <a:endParaRPr sz="1100">
              <a:solidFill>
                <a:schemeClr val="dk1"/>
              </a:solidFill>
            </a:endParaRPr>
          </a:p>
          <a:p>
            <a:pPr indent="-261779" lvl="0" marL="457200" rtl="0" algn="l">
              <a:spcBef>
                <a:spcPts val="1200"/>
              </a:spcBef>
              <a:spcAft>
                <a:spcPts val="0"/>
              </a:spcAft>
              <a:buClr>
                <a:schemeClr val="dk1"/>
              </a:buClr>
              <a:buSzPct val="100000"/>
              <a:buChar char="●"/>
            </a:pPr>
            <a:r>
              <a:rPr lang="en-GB" sz="1100">
                <a:solidFill>
                  <a:schemeClr val="dk1"/>
                </a:solidFill>
              </a:rPr>
              <a:t>Create a web page using HTML.</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Design an interactive interface using CSS.</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Implement functionality using JavaScript.</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Handle user input and button events.</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Perform basic mathematical operations.</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Upload and manage a project using GitHub.</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FUTURE SCOPE</a:t>
            </a:r>
            <a:endParaRPr b="1" sz="1300">
              <a:solidFill>
                <a:schemeClr val="dk1"/>
              </a:solidFill>
            </a:endParaRPr>
          </a:p>
          <a:p>
            <a:pPr indent="0" lvl="0" marL="0" rtl="0" algn="l">
              <a:spcBef>
                <a:spcPts val="1200"/>
              </a:spcBef>
              <a:spcAft>
                <a:spcPts val="0"/>
              </a:spcAft>
              <a:buClr>
                <a:schemeClr val="dk1"/>
              </a:buClr>
              <a:buSzPct val="100000"/>
              <a:buFont typeface="Arial"/>
              <a:buNone/>
            </a:pPr>
            <a:r>
              <a:rPr lang="en-GB" sz="1100">
                <a:solidFill>
                  <a:schemeClr val="dk1"/>
                </a:solidFill>
              </a:rPr>
              <a:t>The calculator can be further improved by adding:</a:t>
            </a:r>
            <a:endParaRPr sz="1100">
              <a:solidFill>
                <a:schemeClr val="dk1"/>
              </a:solidFill>
            </a:endParaRPr>
          </a:p>
          <a:p>
            <a:pPr indent="-261779" lvl="0" marL="457200" rtl="0" algn="l">
              <a:spcBef>
                <a:spcPts val="1200"/>
              </a:spcBef>
              <a:spcAft>
                <a:spcPts val="0"/>
              </a:spcAft>
              <a:buClr>
                <a:schemeClr val="dk1"/>
              </a:buClr>
              <a:buSzPct val="100000"/>
              <a:buChar char="●"/>
            </a:pPr>
            <a:r>
              <a:rPr lang="en-GB" sz="1100">
                <a:solidFill>
                  <a:schemeClr val="dk1"/>
                </a:solidFill>
              </a:rPr>
              <a:t>Scientific calculator functions</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Calculation history</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Keyboard support</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Dark/Light mode</a:t>
            </a:r>
            <a:endParaRPr sz="1100">
              <a:solidFill>
                <a:schemeClr val="dk1"/>
              </a:solidFill>
            </a:endParaRPr>
          </a:p>
          <a:p>
            <a:pPr indent="-261779" lvl="0" marL="457200" rtl="0" algn="l">
              <a:spcBef>
                <a:spcPts val="0"/>
              </a:spcBef>
              <a:spcAft>
                <a:spcPts val="0"/>
              </a:spcAft>
              <a:buClr>
                <a:schemeClr val="dk1"/>
              </a:buClr>
              <a:buSzPct val="100000"/>
              <a:buChar char="●"/>
            </a:pPr>
            <a:r>
              <a:rPr lang="en-GB" sz="1100">
                <a:solidFill>
                  <a:schemeClr val="dk1"/>
                </a:solidFill>
              </a:rPr>
              <a:t>More advanced mathematical operations</a:t>
            </a:r>
            <a:endParaRPr sz="1100">
              <a:solidFill>
                <a:schemeClr val="dk1"/>
              </a:solidFill>
            </a:endParaRPr>
          </a:p>
          <a:p>
            <a:pPr indent="0" lvl="0" marL="0" rtl="0" algn="l">
              <a:spcBef>
                <a:spcPts val="1800"/>
              </a:spcBef>
              <a:spcAft>
                <a:spcPts val="0"/>
              </a:spcAft>
              <a:buClr>
                <a:schemeClr val="dk1"/>
              </a:buClr>
              <a:buSzPct val="64706"/>
              <a:buFont typeface="Arial"/>
              <a:buNone/>
            </a:pPr>
            <a:r>
              <a:rPr b="1" lang="en-GB" sz="1700">
                <a:solidFill>
                  <a:schemeClr val="dk1"/>
                </a:solidFill>
              </a:rPr>
              <a:t>THANK YOU</a:t>
            </a:r>
            <a:endParaRPr b="1" sz="17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Any Questions?</a:t>
            </a:r>
            <a:endParaRPr b="1" sz="1300">
              <a:solidFill>
                <a:schemeClr val="dk1"/>
              </a:solidFill>
            </a:endParaRPr>
          </a:p>
          <a:p>
            <a:pPr indent="0" lvl="0" marL="0" rtl="0" algn="l">
              <a:spcBef>
                <a:spcPts val="4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